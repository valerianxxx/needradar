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f2d79e1d54ac6" /><Relationship Type="http://schemas.openxmlformats.org/officeDocument/2006/relationships/extended-properties" Target="/docProps/app.xml" Id="R8f7940ccbc6d4f32" /><Relationship Type="http://schemas.openxmlformats.org/officeDocument/2006/relationships/officeDocument" Target="/ppt/presentation.xml" Id="R972f084161a1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f273065a54374"/>
  </p:sldMasterIdLst>
  <p:notesMasterIdLst>
    <p:notesMasterId xmlns:r="http://schemas.openxmlformats.org/officeDocument/2006/relationships" r:id="Re43ae76f56d94ab3"/>
  </p:notesMasterIdLst>
  <p:sldIdLst>
    <p:sldId xmlns:r="http://schemas.openxmlformats.org/officeDocument/2006/relationships" id="256" r:id="R18e0fb0625224a04"/>
    <p:sldId xmlns:r="http://schemas.openxmlformats.org/officeDocument/2006/relationships" id="257" r:id="R75c0997bd5814e94"/>
    <p:sldId xmlns:r="http://schemas.openxmlformats.org/officeDocument/2006/relationships" id="258" r:id="R71b7229af0a84c51"/>
    <p:sldId xmlns:r="http://schemas.openxmlformats.org/officeDocument/2006/relationships" id="259" r:id="R37cac8dd033e4591"/>
    <p:sldId xmlns:r="http://schemas.openxmlformats.org/officeDocument/2006/relationships" id="260" r:id="Reccaf12d71524c6a"/>
    <p:sldId xmlns:r="http://schemas.openxmlformats.org/officeDocument/2006/relationships" id="261" r:id="R7576348332c34bc3"/>
    <p:sldId xmlns:r="http://schemas.openxmlformats.org/officeDocument/2006/relationships" id="262" r:id="R845473c1c22e4eed"/>
    <p:sldId xmlns:r="http://schemas.openxmlformats.org/officeDocument/2006/relationships" id="263" r:id="Rb0fb4f73d659488b"/>
    <p:sldId xmlns:r="http://schemas.openxmlformats.org/officeDocument/2006/relationships" id="264" r:id="R418d1f7cbf1948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bf614ce996455f" /><Relationship Type="http://schemas.openxmlformats.org/officeDocument/2006/relationships/slideMaster" Target="/ppt/slideMasters/slideMaster1.xml" Id="R692f273065a54374" /><Relationship Type="http://schemas.openxmlformats.org/officeDocument/2006/relationships/notesMaster" Target="/ppt/notesMasters/notesMaster1.xml" Id="Re43ae76f56d94ab3" /><Relationship Type="http://schemas.openxmlformats.org/officeDocument/2006/relationships/presProps" Target="/ppt/presProps.xml" Id="Rfa05ae496ae14163" /><Relationship Type="http://schemas.openxmlformats.org/officeDocument/2006/relationships/tableStyles" Target="/ppt/tableStyles.xml" Id="R6b64f841c99e4688" /><Relationship Type="http://schemas.openxmlformats.org/officeDocument/2006/relationships/slide" Target="/ppt/slides/slide1.xml" Id="R18e0fb0625224a04" /><Relationship Type="http://schemas.openxmlformats.org/officeDocument/2006/relationships/slide" Target="/ppt/slides/slide2.xml" Id="R75c0997bd5814e94" /><Relationship Type="http://schemas.openxmlformats.org/officeDocument/2006/relationships/slide" Target="/ppt/slides/slide3.xml" Id="R71b7229af0a84c51" /><Relationship Type="http://schemas.openxmlformats.org/officeDocument/2006/relationships/slide" Target="/ppt/slides/slide4.xml" Id="R37cac8dd033e4591" /><Relationship Type="http://schemas.openxmlformats.org/officeDocument/2006/relationships/slide" Target="/ppt/slides/slide5.xml" Id="Reccaf12d71524c6a" /><Relationship Type="http://schemas.openxmlformats.org/officeDocument/2006/relationships/slide" Target="/ppt/slides/slide6.xml" Id="R7576348332c34bc3" /><Relationship Type="http://schemas.openxmlformats.org/officeDocument/2006/relationships/slide" Target="/ppt/slides/slide7.xml" Id="R845473c1c22e4eed" /><Relationship Type="http://schemas.openxmlformats.org/officeDocument/2006/relationships/slide" Target="/ppt/slides/slide8.xml" Id="Rb0fb4f73d659488b" /><Relationship Type="http://schemas.openxmlformats.org/officeDocument/2006/relationships/slide" Target="/ppt/slides/slide9.xml" Id="R418d1f7cbf1948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949730b6e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81934de3b4ce5" /><Relationship Type="http://schemas.openxmlformats.org/officeDocument/2006/relationships/notesMaster" Target="/ppt/notesMasters/notesMaster1.xml" Id="Rd9a4299e14dc43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fd81c526e48a4" /><Relationship Type="http://schemas.openxmlformats.org/officeDocument/2006/relationships/notesMaster" Target="/ppt/notesMasters/notesMaster1.xml" Id="Rf4b3d3b44b3244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d263132e14072" /><Relationship Type="http://schemas.openxmlformats.org/officeDocument/2006/relationships/notesMaster" Target="/ppt/notesMasters/notesMaster1.xml" Id="Rdef150abf9b1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efddd6377408e" /><Relationship Type="http://schemas.openxmlformats.org/officeDocument/2006/relationships/notesMaster" Target="/ppt/notesMasters/notesMaster1.xml" Id="R73cfed9860fe4b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e739276e14175" /><Relationship Type="http://schemas.openxmlformats.org/officeDocument/2006/relationships/notesMaster" Target="/ppt/notesMasters/notesMaster1.xml" Id="Rdba9eb38f656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535df8a3b4731" /><Relationship Type="http://schemas.openxmlformats.org/officeDocument/2006/relationships/notesMaster" Target="/ppt/notesMasters/notesMaster1.xml" Id="Rd9e1ec1440e444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06cacc70294980" /><Relationship Type="http://schemas.openxmlformats.org/officeDocument/2006/relationships/notesMaster" Target="/ppt/notesMasters/notesMaster1.xml" Id="R4c939873203d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1338c942842c1" /><Relationship Type="http://schemas.openxmlformats.org/officeDocument/2006/relationships/notesMaster" Target="/ppt/notesMasters/notesMaster1.xml" Id="R0a7d1cd271f942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4eb229f0444872" /><Relationship Type="http://schemas.openxmlformats.org/officeDocument/2006/relationships/notesMaster" Target="/ppt/notesMasters/notesMaster1.xml" Id="Rb0f6ad5afb35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artwork is the production NeedRadar social identity generated for this revision.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recommendation from docs/AI_STRATEGY_CASE_STUDY.md.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model from docs/DATA_AND_VALIDATION.md and docs/PUBLIC_DATA_BOUNDARY.md.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governance boundary from docs/ARCHITECTURE.md and docs/SOURCE_POLICY.md.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snapshot retrieved 2026-08-26.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https://needradar-ai.xusihan615.chatgpt.site/api/v1/meta</a:t>
            </a:r>
          </a:p>
          <a:p xmlns:a="http://schemas.openxmlformats.org/drawingml/2006/main">
            <a:r>
              <a:t>- docs/PORTFOLIO_CLAIMS.md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and pilot recommendation are proposed, not executed.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https://needradar-ai.xusihan615.chatgpt.site/opportunities/specialized-ocr-confidence-workflow</a:t>
            </a:r>
          </a:p>
          <a:p xmlns:a="http://schemas.openxmlformats.org/drawingml/2006/main">
            <a:r>
              <a:t>- https://softwarerecs.stackexchange.com/questions/95367/ocr-software-for-math-texts-with-selective-font-replacement-based-on-confidence</a:t>
            </a:r>
          </a:p>
          <a:p xmlns:a="http://schemas.openxmlformats.org/drawingml/2006/main">
            <a:r>
              <a:t>- docs/AI_STRATEGY_CASE_STUDY.md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model from docs/AI_STRATEGY_CASE_STUDY.md and docs/PRIVACY_SECURITY.md.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client-style validation roadmap; it has not been executed.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docs/AI_STRATEGY_CASE_STUDY.md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boundary from docs/PORTFOLIO_CLAIMS.md.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https://needradar-ai.xusihan615.chatgpt.site</a:t>
            </a:r>
          </a:p>
          <a:p xmlns:a="http://schemas.openxmlformats.org/drawingml/2006/main">
            <a:r>
              <a:t>- https://github.com/ValerianXXX/needradar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1d5439a2243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96da4eb8e4fe8" /><Relationship Type="http://schemas.openxmlformats.org/officeDocument/2006/relationships/slideLayout" Target="/ppt/slideLayouts/slideLayout1.xml" Id="R205a4db4cab6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a4db4cab6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f09c7ad141ab" /><Relationship Type="http://schemas.openxmlformats.org/officeDocument/2006/relationships/image" Target="/ppt/media/image.png" Id="R25d4dafe57d244c6" /><Relationship Type="http://schemas.openxmlformats.org/officeDocument/2006/relationships/notesSlide" Target="/ppt/notesSlides/notesSlide1.xml" Id="R7c0315465768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eeae91d84d1e" /><Relationship Type="http://schemas.openxmlformats.org/officeDocument/2006/relationships/notesSlide" Target="/ppt/notesSlides/notesSlide2.xml" Id="Re9928b893d52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6f773833e46eb" /><Relationship Type="http://schemas.openxmlformats.org/officeDocument/2006/relationships/notesSlide" Target="/ppt/notesSlides/notesSlide3.xml" Id="Rf01e840b19184a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0f296517d4260" /><Relationship Type="http://schemas.openxmlformats.org/officeDocument/2006/relationships/notesSlide" Target="/ppt/notesSlides/notesSlide4.xml" Id="R0708225c9bef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f2c8535ab42d7" /><Relationship Type="http://schemas.openxmlformats.org/officeDocument/2006/relationships/notesSlide" Target="/ppt/notesSlides/notesSlide5.xml" Id="R073b17a0c2da41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6abc756da4e77" /><Relationship Type="http://schemas.openxmlformats.org/officeDocument/2006/relationships/notesSlide" Target="/ppt/notesSlides/notesSlide6.xml" Id="Rfde67d8a7d5b49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348447b164937" /><Relationship Type="http://schemas.openxmlformats.org/officeDocument/2006/relationships/notesSlide" Target="/ppt/notesSlides/notesSlide7.xml" Id="R9b78ed7eaa2e47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f87097e974f28" /><Relationship Type="http://schemas.openxmlformats.org/officeDocument/2006/relationships/notesSlide" Target="/ppt/notesSlides/notesSlide8.xml" Id="R5096f448ad534c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e62fb227e40c1" /><Relationship Type="http://schemas.openxmlformats.org/officeDocument/2006/relationships/notesSlide" Target="/ppt/notesSlides/notesSlide9.xml" Id="Rb099c6a645b641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4dafe57d244c6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FFE08-034B-4FE4-A172-4F1212E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9F1DC-2FAC-4BE9-8C84-479046E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EF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1EFE8"/>
                </a:solidFill>
                <a:latin typeface="Consolas"/>
                <a:ea typeface="Consolas"/>
                <a:cs typeface="Consolas"/>
              </a:rPr>
              <a:t>AI STRATEGY / TRANSFORMATION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69822-230A-4C38-A7FC-91C64C6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81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Sihan Xu · Product strategy, governance,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1863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ED26B-DB35-4835-ABE1-A689E4C1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7399C-B8B3-41AF-BF81-B5784743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EXECUTIVE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31C0B-C61D-4A52-9344-7DD74BFD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D9D2-A78F-41FF-B773-58D5A52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DE1DE-6E94-45AB-B1E5-F96C29F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THE DECISION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5EE28-A3D2-4A51-BF7D-D91840B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The problem is not</a:t>
            </a:r>
          </a:p>
          <a:p xmlns:a="http://schemas.openxmlformats.org/drawingml/2006/main">
            <a:pPr algn="l">
              <a:defRPr sz="40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 shortage of AI ideas.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E6756-74F8-47EE-8EC4-1556B9C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It is the absence of a repeatable way to decide which workflow deserves evidence, a pilot, and organizational 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47A3F-06E8-4CC2-BF29-9A8FBB21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095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8F6BE-8E38-474F-BFCC-4ED0FFF7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NEEDRADAR MAKES THREE THINGS EXPLICIT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7B3B3-FADE-4C74-A3CD-DE47100A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E22F-704D-4ECE-8953-00A813D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00769-F95C-4103-BE34-0F0ED405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What was said, where, and under which source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F1D46-012C-4EB2-B611-F94FF28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DA2BB-7674-4FF5-8CF7-7B72CEC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DE8EA-3EDB-4EDB-B167-5B487559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Distinct demand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88765-31E2-44B3-830A-52C79F6B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Whether the task is genuinely new or repeats an existing brief.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63F53-9F55-43BF-9E48-1EB3132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182B0-CB29-4B61-BD04-AE7CC9B3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7B917-233B-494B-8495-7D2FB0E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Proof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432CA-7150-4656-B568-3437515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What is a public signal, and what still requires real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42F8C-41E4-4206-95F4-384A626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1068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F9993-F73B-4591-A684-FEEE22AA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RECOMMENDATION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6A384-36A6-4D2B-B956-3AB80E0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245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Automate evidence preparation. Keep investment and adoption decisions accountable.</a:t>
            </a:r>
          </a:p>
        </p:txBody>
      </p:sp>
    </p:spTree>
    <p:extLst>
      <p:ext uri="{BB962C8B-B14F-4D97-AF65-F5344CB8AC3E}">
        <p14:creationId xmlns:p14="http://schemas.microsoft.com/office/powerpoint/2010/main" val="1329417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BA4C9-E92A-463C-A4AC-E630A6B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A8034-218B-4184-A67A-A60D329C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B00C9-4BF5-4334-B591-540D54E6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5151C-1112-49AC-8CF8-4E6AD4F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85C25-92B9-4BF9-88E4-21EEF9B5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Four evidence layers stop a plausible story</a:t>
            </a:r>
          </a:p>
          <a:p xmlns:a="http://schemas.openxmlformats.org/drawingml/2006/main">
            <a:pPr algn="l">
              <a:defRPr sz="3225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from becoming an unsupported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468A-2FE2-4E7B-8EB9-8F985AB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6098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6E5E7-4790-4467-A4AB-E44E0287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C7156-1462-4359-BB7B-32830D4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5F4B7-1C11-4C7C-9AC2-D5C1F8B1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A public expression with source, date, language, and minimal excerpt.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7F60D-F619-4656-935B-13FC6D3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347A5-3FA4-41E4-911F-FDBE830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SOMEONE EXPRESSED THIS.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60B36-F00F-41FE-B09B-EC175D1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81250"/>
            <a:ext cx="26098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E12F-ED9C-4AC0-B421-B6F6ED0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45D4-A6A0-47A5-A7B0-8F95B2C1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670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Need cluster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AD1E8-B92E-4310-92C7-154E3AA4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862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Compatible tasks repeated across independent authors or source policies.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B130D-7EE7-4BBC-BC4C-25BA5620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577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92E26-FE50-4FA2-96CC-7FF18C6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010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THE WORKFLOW RECURS.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6DB51-83B9-4D3D-940B-BB7E881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6098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4E3BD-8848-4658-9A9B-C68EA80B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F0AC-7179-4BE5-9417-997EBDD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AI opportunity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0DBFF-AFB5-4738-996D-8EDA559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An editorial model of mechanism, dependencies, risk, and human gates.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6E583-8280-4F17-9C24-A51BAAE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A2972-682B-4532-B895-723847FB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AI MAY FIT.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6BD89-3F7E-46E1-AB53-CFF092C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81250"/>
            <a:ext cx="26098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4CCEC-E8D0-4D5C-87FA-6469FDF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220C6-75D0-404D-A6D5-174A07E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670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Validated demand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8EE55-A0DC-4ADB-9E6B-B1245701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862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2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D2C8"/>
                </a:solidFill>
                <a:latin typeface="Aptos"/>
                <a:ea typeface="Aptos"/>
                <a:cs typeface="Aptos"/>
              </a:rPr>
              <a:t>Confirmation, completed action, real tasks, repeat use, and sustained outcomes.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9E2CC-00DA-4020-9052-56461B1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577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74E0D-CB23-4809-B4A5-9576E133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10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ONLY THE ATTAINED STAGE.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87C0D-AE5D-4A94-ABB3-909CA6E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A stronger narrative never substitutes for a stronger evidence layer.</a:t>
            </a:r>
          </a:p>
        </p:txBody>
      </p:sp>
    </p:spTree>
    <p:extLst>
      <p:ext uri="{BB962C8B-B14F-4D97-AF65-F5344CB8AC3E}">
        <p14:creationId xmlns:p14="http://schemas.microsoft.com/office/powerpoint/2010/main" val="1197776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AF3E7E-E218-47A0-97CE-D130F8D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299AD-2CF5-4FA7-B6CD-3A44EC6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IMPLEMENTED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F3149-EA0E-4A39-8BA0-65BB35A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0009-3EB4-46FF-8F3C-F293BBD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3A530-8745-47F1-B10A-E3833B1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The pipeline turns raw signal into a decision object —</a:t>
            </a:r>
          </a:p>
          <a:p xmlns:a="http://schemas.openxmlformats.org/drawingml/2006/main">
            <a:pPr algn="l">
              <a:defRPr sz="31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without hiding who owns the judgment.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2EB01-9D39-447E-9A50-08D8F73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718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02A0E-3BA3-4783-B6AE-C1AE24C7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24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2CDCD-09AA-400C-ADE0-DBDDFBF1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C38CC-3734-4F07-8AC0-5A42B84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91F29-84CA-4A26-A2D6-6D2EE6EE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Govern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4452F-C4FB-4BAB-8469-472167E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Approved source</a:t>
            </a:r>
          </a:p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or consented 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D909B-C6A1-4C9E-995E-2FC7D7A4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E6F9D-73F1-4D25-B132-9FAD1FF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24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70E37-FCB3-4857-8041-DC16680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3EDAA-B4DC-4421-BFB4-D221F25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04C91-8351-41C1-A6A7-2FA699B0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17579-A7EC-4FE3-872F-C1A53F5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Noise, PII,</a:t>
            </a:r>
          </a:p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accessibility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9A6BA-5A17-4886-96AB-06A0119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718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39827-B578-4E6D-9BCA-4CAE6E67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133E3-CD0F-4279-B59B-CA43359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B75C0-03DB-4B4F-848D-FA59F445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8D791-24D3-4C59-BB68-4B7D300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EFDF6-7409-4484-B5F0-C55ABCE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User, job,</a:t>
            </a:r>
          </a:p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workaround, AI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CB100-A7A1-4EAC-ABE0-4E15629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718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0186A-30A9-4E73-B522-A27890EA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24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8B043-89CE-4DBF-B9D3-F921156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245D3-BF54-440E-A4D4-172CFCCA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5D5E7-7D36-47DE-9182-352AF2C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4547B-E643-41A0-B9E4-81FAF4E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Independent signals</a:t>
            </a:r>
          </a:p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and membership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3BD83-33E7-447E-93DB-08E699D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E2DA8-D0AE-42F8-AE20-8809E22E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80A51-C09E-401E-AFA4-CC47A208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8EF851-BFDD-4D8A-BC76-CB7E840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F756D6-3136-4CE7-B529-B138ABA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Draft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C8E20-2221-4C8C-9D94-99695198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Counterevidence</a:t>
            </a:r>
          </a:p>
          <a:p xmlns:a="http://schemas.openxmlformats.org/drawingml/2006/main">
            <a:pPr algn="l">
              <a:defRPr sz="11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and unknowns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F5B036-4609-4849-B8D6-723AC77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60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A14228-49F8-4BB2-BA8D-17B8338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5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13C54E-AE0D-4EFE-B006-2CA42296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C87B0D-055B-4AB2-B0BA-1FB22A1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290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5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5CA"/>
                </a:solidFill>
                <a:latin typeface="Aptos"/>
                <a:ea typeface="Aptos"/>
                <a:cs typeface="Aptos"/>
              </a:rPr>
              <a:t>Completeness +</a:t>
            </a:r>
          </a:p>
          <a:p xmlns:a="http://schemas.openxmlformats.org/drawingml/2006/main">
            <a:pPr algn="l">
              <a:defRPr sz="1125" b="0">
                <a:solidFill>
                  <a:srgbClr val="D7D5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5CA"/>
                </a:solidFill>
                <a:latin typeface="Aptos"/>
                <a:ea typeface="Aptos"/>
                <a:cs typeface="Aptos"/>
              </a:rPr>
              <a:t>similarity gates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36DBE6-D5F1-4883-AFF6-3FBD30C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7D84AD-D19F-4CFD-93FC-A3838E8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SYSTEM /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717C04-ACDD-4CEB-94D3-720DEAA2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Normalize · classify · cluster · draft · compare · log reasons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FEA4AF-E45B-408A-921F-9E67253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4019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4F0526-09D4-4E22-9B26-0912E660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ACCOUNTABLE HUMAN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28C5EB-A492-4F18-B023-3792BCBC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24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Source rights · strategic priority · real-task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967133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F239D-3427-4A00-AF61-0AEAA45F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E0036-9C33-44B0-9B03-824BDB4D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PRODUCTION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F0723-6D63-4F5D-AFC4-AB26FB15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9D38C-59B3-4DEB-A685-1BF04C3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1051E-4510-4991-A0D0-11C21F2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6096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FD8C4-2F2C-478E-B638-2B10783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PUBLIC PRODUCTION SNAPSHOT / 26 AUG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2DF2C-9635-49E4-9D00-FA707C33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82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421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5982-D445-40F1-B856-5BE3C44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stored 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790AF-8C54-4BBF-A251-A5A13B1F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FB65-8013-4457-B906-560FB39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814"/>
                </a:solidFill>
                <a:latin typeface="Aptos"/>
                <a:ea typeface="Aptos"/>
                <a:cs typeface="Aptos"/>
              </a:rPr>
              <a:t>A working evidence pipeline with source, privacy, classification, clustering, and publication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8E505-26B4-4BBC-81CE-20691859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SYSTEM OUTPUT, NOT MARKET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93F2A-0532-4D85-83C9-461BA0D3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33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PUBLIC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8E2C-6E52-43CC-A935-00657B8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85875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117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ED3B9-6C33-420C-A6B5-E3594D7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public observations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F23AB-C3BC-444A-928F-62F5EDE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B60B7-67A9-4407-8F84-14158A3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PUBLISHED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57621-BE95-4C67-94C1-AE83436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960E2-629A-4323-8295-6CF569C0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deduplicated opportunity briefs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C446F-C61E-4C2D-B888-058027E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054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D2CF2-1A71-4B02-B42C-A6FBA10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960"/>
                </a:solidFill>
                <a:latin typeface="Aptos"/>
                <a:ea typeface="Aptos"/>
                <a:cs typeface="Aptos"/>
              </a:rPr>
              <a:t>20 source policies · 12 active · 5 submission-only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C7F98-6738-4CAF-AFC8-B5C3B30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6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7624D-E8D6-4756-ABD4-DBC37E2E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Boundary: no customer count, adoption, revenue, savings, ROI, or PMF is claimed.</a:t>
            </a:r>
          </a:p>
        </p:txBody>
      </p:sp>
    </p:spTree>
    <p:extLst>
      <p:ext uri="{BB962C8B-B14F-4D97-AF65-F5344CB8AC3E}">
        <p14:creationId xmlns:p14="http://schemas.microsoft.com/office/powerpoint/2010/main" val="60747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ACE77-1A12-4920-998B-059B0B3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03A88-411F-4586-AAF8-A6FEC21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USE-CASE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6B1A-00D1-4482-A3B6-119CCCF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3C9A1-50F9-4B9F-B8A6-6F30890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90122-9975-4E61-ACF1-9B0A88FE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ILLUSTRATIVE PILOT / SPECIALIST OCR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8D3D5-DC3C-4B9A-9656-158AB0A9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Preserve the source image</a:t>
            </a:r>
          </a:p>
          <a:p xmlns:a="http://schemas.openxmlformats.org/drawingml/2006/main">
            <a:pPr algn="l">
              <a:defRPr sz="3525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when OCR is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1B426-9BED-4766-9880-F8CDEA90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9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960"/>
                </a:solidFill>
                <a:latin typeface="Aptos"/>
                <a:ea typeface="Aptos"/>
                <a:cs typeface="Aptos"/>
              </a:rPr>
              <a:t>A bounded input, visible uncertainty, and a review handoff make this a strong discovery candidate — not a scale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E2379-F1DB-4CCA-BC93-040CBBE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62000"/>
            <a:ext cx="4457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0B9DD-83EA-4F35-8F0E-9B8A397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66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SOURCE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AE849-35B7-4708-A330-EC0A977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287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F8067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FF8067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B71CE-F921-47F7-869B-632442B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33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I would rather see the original pixels than a perfectly rendered but mathematically incorrect digital word.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C39F0-A28D-45E1-B0F0-D88AFBD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8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996B4-B5BC-4F92-A191-374AF64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4 observations · 4 author groups · V2 repeated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2F0E4-8FD9-4531-A51F-145B224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3D487-025E-4E02-8783-11FF631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PILOT 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E4983-B854-4DB1-B50E-BDC83040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Route only low-confidence regions to a person while preserving pixels, coordinates, and correction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76671-28A5-4A46-B660-8F00B29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72050"/>
            <a:ext cx="4457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A9685-C5B9-4AF1-AB8F-12E7F162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4BE58-703C-4479-AE74-1EA21A07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Proceed to 30-day discovery — not scale.</a:t>
            </a:r>
          </a:p>
        </p:txBody>
      </p:sp>
    </p:spTree>
    <p:extLst>
      <p:ext uri="{BB962C8B-B14F-4D97-AF65-F5344CB8AC3E}">
        <p14:creationId xmlns:p14="http://schemas.microsoft.com/office/powerpoint/2010/main" val="557358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DD115-F4AA-456B-B8FE-20EA874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B3F1A-7FCC-4A92-A4E3-8260C66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TARGET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577B8-36B3-4ED3-84A3-FB123E76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A1DE5-D063-4A9C-9AF1-A8997069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5A7B0-DD6E-415B-BBF5-F33BB54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Scale repeatable preparation.</a:t>
            </a:r>
          </a:p>
          <a:p xmlns:a="http://schemas.openxmlformats.org/drawingml/2006/main">
            <a:pPr algn="l">
              <a:defRPr sz="330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Retain accountable judgment.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E9D8A-CDDD-40DB-927D-9CA4AF0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334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74C72-6136-41D1-A02E-79EE686A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SYSTEM /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097F3-BB69-4A83-9537-3564A5A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52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4B9C8-E242-469B-8583-8C4A456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958C-2950-45AC-9DBB-3AD16790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Normalize source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40D4B-559B-4A52-BAF3-069E2140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6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615EF-5FA8-443B-9C7B-DA3DFF7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Detect PII, noise, and likely duplicates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13B1A-B8B2-4E37-9DE3-DA4A9CF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C34F7-7E11-422A-A2E1-0408E5FE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Classify, cluster, and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C95BA-3DC3-4FDD-81C5-6478A694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9A11E-2270-4AC0-936B-BE0CCA52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10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Flag uncertainty and retain reasons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9F26D-6960-4540-8EF0-D9FDE15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54864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1820B-D2B8-4387-A438-898F930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ACCOUNTABLE HUMAN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1D40D-898A-4359-9901-67D50710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HUMAN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07CD0-9584-488D-8BFF-E2D88F7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F9B20-F780-4C66-8CAA-CBFD3821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Approve source rights and exceptions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20373-5B00-492D-BCFC-F97CA28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28B7C-A416-4946-B790-F879536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Choose strategic priority and acceptable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117D6-D619-41AF-81A7-FFF7885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76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7B80A-38BF-469D-BAE8-B48F900B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Observe real work and adoption behavior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32C2F-8352-4B2E-8684-8A77A22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67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D7432-8A7D-4495-AA5B-38257B8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101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Own scale, redesign, or stop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7E781-0E90-458D-B48E-416CC8C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11068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C1EB4-9FD2-4EAC-9661-565878D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The boundary follows decision risk — not a generic “human in the loop” label.</a:t>
            </a:r>
          </a:p>
        </p:txBody>
      </p:sp>
    </p:spTree>
    <p:extLst>
      <p:ext uri="{BB962C8B-B14F-4D97-AF65-F5344CB8AC3E}">
        <p14:creationId xmlns:p14="http://schemas.microsoft.com/office/powerpoint/2010/main" val="1363416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CEF7E-67AE-4991-8709-D4B11344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18B6C-57CC-4039-8450-1B5C54A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PROPOSED 90-DAY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855D7-091C-441F-9653-3B2B892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62D7-17F7-4755-98B4-2A449754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7696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7696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788C-71A2-48F8-ABC2-28164663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32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C77326"/>
                </a:solidFill>
                <a:latin typeface="Consolas"/>
                <a:ea typeface="Consolas"/>
                <a:cs typeface="Consolas"/>
              </a:rPr>
              <a:t>PROPOSED / NOT YET EXECUTED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90BF-9AF5-408F-9B96-3369964C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Move a V2 signal toward a scale, redesign, or stop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6E364-B646-46FF-A0E4-F6EB233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B87C6-DD26-4C0F-9BB0-55F2D5A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B222-35DD-4D19-9C99-11C2A5A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DAYS 0–30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BBC11-4BB2-48D1-81AA-E87CC88C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Align &amp;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0B488-781A-4919-B4DB-7BFC7A9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588C6-BF2A-4205-89AF-213C2C8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Name one workflow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F7308-A83C-4DEF-BEF8-FD232F79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2F65B-C0FE-4A35-B6B3-BD2F39ED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Observe 5–8 target operators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E46B0-012D-4818-8073-D42F2972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C6D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87C6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CC202-2F6B-4F8B-8043-913D5DF8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Measure time, error, and rework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F915C-5727-497B-93CE-6FA1401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ADD38-49AC-4B1D-ABF4-F8966EB3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27375-DB1A-4BDD-9A79-BB895E89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DAYS 31–60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21103-643D-40FD-817C-E6CDD0D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Prototype &amp;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48BFA-DED0-40D4-BA90-E88FE67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40890-E81F-4073-ADB3-50F1794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Build the smallest end-to-end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06496-936A-4524-A816-874C205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0336B-F8A8-43D9-B3E7-80B67997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Test held-out inputs and failures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1F876-3B6F-4369-8BCB-8815EEB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76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E09D0-3D6E-4A61-8724-A029DB7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19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Run facilitated real-task sessions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9B16F-8CDA-49F6-87D6-64E4AFCF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3DAF2-FE7E-46D1-953B-5370375D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33CF1-7B01-47C0-9D86-1255F227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DAYS 61–90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D0BDA-15A1-41D0-BFE1-D49C347E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Adoption &amp;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76AF5-D077-46B5-B022-908A7451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70A60E-B04D-49EE-B4AD-4141A94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Run a bounded production-like pilot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2A592-233C-465B-A798-FF65D6C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B545E-47D2-41A4-9B55-B351260F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Compare outcomes with baseline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0C8B2-50EF-48D4-BC3E-C2DE9EB3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E7D77-6BE6-4ABA-9DF7-AEECA70C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Decide scale, redesign, or stop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094A02-540D-4C4D-8A79-6ABFDC7A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D4A852-2C60-4D03-865E-4E8DBCE2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DECISION 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C46D1-C8E5-4771-9F55-5B9E8CCE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57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Named owner · measured baseline · observed adoption · documented risk · explicit next investment</a:t>
            </a:r>
          </a:p>
        </p:txBody>
      </p:sp>
    </p:spTree>
    <p:extLst>
      <p:ext uri="{BB962C8B-B14F-4D97-AF65-F5344CB8AC3E}">
        <p14:creationId xmlns:p14="http://schemas.microsoft.com/office/powerpoint/2010/main" val="2074222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A216C-2416-4726-AE23-5D66C45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7A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B7AE"/>
                </a:solidFill>
                <a:latin typeface="Consolas"/>
                <a:ea typeface="Consolas"/>
                <a:cs typeface="Consolas"/>
              </a:rPr>
              <a:t>NEEDRADAR / AI STRATEGY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92DE2-E7FC-497C-83B4-15E313A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7A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B7AE"/>
                </a:solidFill>
                <a:latin typeface="Consolas"/>
                <a:ea typeface="Consolas"/>
                <a:cs typeface="Consola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7BDD2-6CD4-4FD7-90ED-E478E31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196CD-F4FA-4751-A56A-DED87586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674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7A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B7AE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B44A-6F27-4967-A198-59B38012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06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8067"/>
                </a:solidFill>
                <a:latin typeface="Consolas"/>
                <a:ea typeface="Consolas"/>
                <a:cs typeface="Consolas"/>
              </a:rPr>
              <a:t>THE 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7B221-EA15-4384-A826-9BE6EE8F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Build the decision system</a:t>
            </a:r>
          </a:p>
          <a:p xmlns:a="http://schemas.openxmlformats.org/drawingml/2006/main">
            <a:pPr algn="l">
              <a:defRPr sz="3900" b="0">
                <a:solidFill>
                  <a:srgbClr val="F1EFE8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1EFE8"/>
                </a:solidFill>
                <a:latin typeface="Georgia"/>
                <a:ea typeface="Georgia"/>
                <a:cs typeface="Georgia"/>
              </a:rPr>
              <a:t>before scaling the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CE1C2-747A-44BF-A849-EB9136FC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00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CC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ECCC2"/>
                </a:solidFill>
                <a:latin typeface="Aptos"/>
                <a:ea typeface="Aptos"/>
                <a:cs typeface="Aptos"/>
              </a:rPr>
              <a:t>NeedRadar demonstrates strategy-to-production judgment: framing the opportunity, governing evidence, defining human/AI ownership, implementing the product, and stating what remains unproven.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64C8B-6239-4C7E-86B2-5BC04AE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4381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4FF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F9AFD-BEEF-46BB-9C9F-C225AF6F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4EE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54EE8"/>
                </a:solidFill>
                <a:latin typeface="Consolas"/>
                <a:ea typeface="Consolas"/>
                <a:cs typeface="Consolas"/>
              </a:rPr>
              <a:t>PROVEN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AB6B4-FDE3-48B4-AA9D-BF5C9AAE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287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A working</a:t>
            </a:r>
          </a:p>
          <a:p xmlns:a="http://schemas.openxmlformats.org/drawingml/2006/main">
            <a:pPr algn="l">
              <a:defRPr sz="2550" b="1">
                <a:solidFill>
                  <a:srgbClr val="17181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814"/>
                </a:solidFill>
                <a:latin typeface="Georgia"/>
                <a:ea typeface="Georgia"/>
                <a:cs typeface="Georgia"/>
              </a:rPr>
              <a:t>decision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8E517-D29E-4240-8EFC-9CF966D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Production pipeline · traceable evidence · governance controls · engineering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E8B34-3756-4178-ACE2-2C6150F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381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7"/>
          </a:solidFill>
          <a:ln xmlns:a="http://schemas.openxmlformats.org/drawingml/2006/main" w="9525">
            <a:solidFill>
              <a:srgbClr val="1718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81CC4-6406-448C-BFDA-0B65D2B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81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71814"/>
                </a:solidFill>
                <a:latin typeface="Consolas"/>
                <a:ea typeface="Consolas"/>
                <a:cs typeface="Consolas"/>
              </a:rPr>
              <a:t>NOT YET PROVEN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8F1F3-1803-4FCD-9DB8-09C85E3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814"/>
                </a:solidFill>
                <a:latin typeface="Aptos"/>
                <a:ea typeface="Aptos"/>
                <a:cs typeface="Aptos"/>
              </a:rPr>
              <a:t>Customer adoption · measured workflow improvement · commercial value · ROI · product-market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2ADAB-3FBC-477C-9DAE-D977E05A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613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8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F3C5C-1E05-4382-AA0E-4468724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LIVE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2F497-A77C-43B2-BF99-12BDB725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needradar-ai.xusihan615.chatgpt.site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43CD2-2235-4B63-BF0D-A77697C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4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8B4FF"/>
                </a:solidFill>
                <a:latin typeface="Consolas"/>
                <a:ea typeface="Consolas"/>
                <a:cs typeface="Consolas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D61E3-ABB4-4240-9C59-A46DEE5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EF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1EFE8"/>
                </a:solidFill>
                <a:latin typeface="Aptos"/>
                <a:ea typeface="Aptos"/>
                <a:cs typeface="Aptos"/>
              </a:rPr>
              <a:t>github.com/ValerianXXX/needradar</a:t>
            </a:r>
          </a:p>
        </p:txBody>
      </p:sp>
    </p:spTree>
    <p:extLst>
      <p:ext uri="{BB962C8B-B14F-4D97-AF65-F5344CB8AC3E}">
        <p14:creationId xmlns:p14="http://schemas.microsoft.com/office/powerpoint/2010/main" val="1753678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2026-08-26T05:54:26.0160000Z</dcterms:created>
  <dcterms:modified xsi:type="dcterms:W3CDTF">2026-08-26T05:54:26.0160000Z</dcterms:modified>
</coreProperties>
</file>